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1675"/>
  <p:notesSz cx="6858000" cy="12191675"/>
  <p:embeddedFontLs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agent-economy\agentflow-frontend\public\media-kit\agentflow-logo-primary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320040"/>
            <a:ext cx="438912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F2C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187452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Most people never open a wallet app.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They open chats.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320040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We grew up using WhatsApp, Telegram, and Instagram DMs, not crypto wallets.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So why should onchain finance feel any different?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466344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That's why I built AgentFlow.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516636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Intent in. Execution out.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agentflow.one · Arc Testnet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70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agent-economy\agentflow-frontend\public\media-kit\agentflow-logo-badge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25603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548640" y="292608"/>
            <a:ext cx="1097400" cy="45600"/>
          </a:xfrm>
          <a:prstGeom prst="rect">
            <a:avLst/>
          </a:prstGeom>
          <a:solidFill>
            <a:srgbClr val="F2C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438912"/>
            <a:ext cx="960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051560"/>
            <a:ext cx="10972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Crypto isn't difficult because of blockchain.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It's difficult because every financial task lives in a different interface.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4"/>
          <p:cNvGrpSpPr/>
          <p:nvPr/>
        </p:nvGrpSpPr>
        <p:grpSpPr>
          <a:xfrm>
            <a:off x="552450" y="2047875"/>
            <a:ext cx="11087100" cy="2571900"/>
            <a:chOff x="552450" y="2047875"/>
            <a:chExt cx="11087100" cy="2571900"/>
          </a:xfrm>
        </p:grpSpPr>
        <p:sp>
          <p:nvSpPr>
            <p:cNvPr id="35" name="Google Shape;35;p4"/>
            <p:cNvSpPr/>
            <p:nvPr/>
          </p:nvSpPr>
          <p:spPr>
            <a:xfrm>
              <a:off x="552450" y="2047875"/>
              <a:ext cx="11087100" cy="2571900"/>
            </a:xfrm>
            <a:prstGeom prst="roundRect">
              <a:avLst>
                <a:gd fmla="val 4444" name="adj"/>
              </a:avLst>
            </a:prstGeom>
            <a:solidFill>
              <a:srgbClr val="111113"/>
            </a:solidFill>
            <a:ln cap="flat" cmpd="sng" w="14300">
              <a:solidFill>
                <a:srgbClr val="2222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" name="Google Shape;36;p4"/>
            <p:cNvCxnSpPr/>
            <p:nvPr/>
          </p:nvCxnSpPr>
          <p:spPr>
            <a:xfrm>
              <a:off x="838200" y="2562225"/>
              <a:ext cx="10515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22222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" name="Google Shape;37;p4"/>
            <p:cNvCxnSpPr/>
            <p:nvPr/>
          </p:nvCxnSpPr>
          <p:spPr>
            <a:xfrm>
              <a:off x="838200" y="3076575"/>
              <a:ext cx="10515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22222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" name="Google Shape;38;p4"/>
            <p:cNvCxnSpPr/>
            <p:nvPr/>
          </p:nvCxnSpPr>
          <p:spPr>
            <a:xfrm>
              <a:off x="838200" y="3590925"/>
              <a:ext cx="10515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22222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" name="Google Shape;39;p4"/>
            <p:cNvCxnSpPr/>
            <p:nvPr/>
          </p:nvCxnSpPr>
          <p:spPr>
            <a:xfrm>
              <a:off x="838200" y="4105275"/>
              <a:ext cx="10515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22222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" name="Google Shape;40;p4"/>
            <p:cNvSpPr txBox="1"/>
            <p:nvPr/>
          </p:nvSpPr>
          <p:spPr>
            <a:xfrm>
              <a:off x="838200" y="2047875"/>
              <a:ext cx="4762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A3A3A3"/>
                  </a:solidFill>
                  <a:latin typeface="Arial"/>
                  <a:ea typeface="Arial"/>
                  <a:cs typeface="Arial"/>
                  <a:sym typeface="Arial"/>
                </a:rPr>
                <a:t>Need to send money?</a:t>
              </a:r>
              <a:endParaRPr b="0" sz="15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A3A3A3"/>
                  </a:solidFill>
                  <a:latin typeface="Arial"/>
                  <a:ea typeface="Arial"/>
                  <a:cs typeface="Arial"/>
                  <a:sym typeface="Arial"/>
                </a:rPr>
                <a:t>Need to swap or vault?</a:t>
              </a:r>
              <a:endParaRPr b="0" sz="15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A3A3A3"/>
                  </a:solidFill>
                  <a:latin typeface="Arial"/>
                  <a:ea typeface="Arial"/>
                  <a:cs typeface="Arial"/>
                  <a:sym typeface="Arial"/>
                </a:rPr>
                <a:t>Need to bridge funds?</a:t>
              </a:r>
              <a:endParaRPr b="0" sz="15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A3A3A3"/>
                  </a:solidFill>
                  <a:latin typeface="Arial"/>
                  <a:ea typeface="Arial"/>
                  <a:cs typeface="Arial"/>
                  <a:sym typeface="Arial"/>
                </a:rPr>
                <a:t>Need prediction-market research or a trade?</a:t>
              </a:r>
              <a:endParaRPr b="0" sz="15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A3A3A3"/>
                  </a:solidFill>
                  <a:latin typeface="Arial"/>
                  <a:ea typeface="Arial"/>
                  <a:cs typeface="Arial"/>
                  <a:sym typeface="Arial"/>
                </a:rPr>
                <a:t>Invoice or portfolio?</a:t>
              </a:r>
              <a:endParaRPr b="0" sz="15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"/>
            <p:cNvSpPr txBox="1"/>
            <p:nvPr/>
          </p:nvSpPr>
          <p:spPr>
            <a:xfrm>
              <a:off x="6191250" y="2047875"/>
              <a:ext cx="51627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Open one app.</a:t>
              </a:r>
              <a:endParaRPr b="1" sz="1500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E11D48"/>
                  </a:solidFill>
                  <a:latin typeface="Arial"/>
                  <a:ea typeface="Arial"/>
                  <a:cs typeface="Arial"/>
                  <a:sym typeface="Arial"/>
                </a:rPr>
                <a:t>Open another.</a:t>
              </a:r>
              <a:endParaRPr b="1" sz="1500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E11D48"/>
                  </a:solidFill>
                  <a:latin typeface="Arial"/>
                  <a:ea typeface="Arial"/>
                  <a:cs typeface="Arial"/>
                  <a:sym typeface="Arial"/>
                </a:rPr>
                <a:t>Another.</a:t>
              </a:r>
              <a:endParaRPr b="1" sz="1500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E11D48"/>
                  </a:solidFill>
                  <a:latin typeface="Arial"/>
                  <a:ea typeface="Arial"/>
                  <a:cs typeface="Arial"/>
                  <a:sym typeface="Arial"/>
                </a:rPr>
                <a:t>Another.</a:t>
              </a:r>
              <a:endParaRPr b="1" sz="1500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E11D48"/>
                  </a:solidFill>
                  <a:latin typeface="Arial"/>
                  <a:ea typeface="Arial"/>
                  <a:cs typeface="Arial"/>
                  <a:sym typeface="Arial"/>
                </a:rPr>
                <a:t>Another.</a:t>
              </a:r>
              <a:endParaRPr b="1" sz="1500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4"/>
          <p:cNvSpPr txBox="1"/>
          <p:nvPr/>
        </p:nvSpPr>
        <p:spPr>
          <a:xfrm>
            <a:off x="548640" y="4905375"/>
            <a:ext cx="11087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experience is fragmented. People don't want more apps.</a:t>
            </a:r>
            <a:endParaRPr b="0" sz="2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They want one conversation.</a:t>
            </a:r>
            <a:endParaRPr b="1" sz="2200">
              <a:solidFill>
                <a:srgbClr val="F2CA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6446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agentflow.one · Arc Testnet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agent-economy\agentflow-frontend\public\media-kit\agentflow-logo-badge.png" id="50" name="Google Shape;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25603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548640" y="292608"/>
            <a:ext cx="1097280" cy="45720"/>
          </a:xfrm>
          <a:prstGeom prst="rect">
            <a:avLst/>
          </a:prstGeom>
          <a:solidFill>
            <a:srgbClr val="F2C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8640" y="43891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AgentFlow turns natural language into verified onchain actions.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1371600"/>
            <a:ext cx="11064240" cy="420624"/>
          </a:xfrm>
          <a:prstGeom prst="roundRect">
            <a:avLst>
              <a:gd fmla="val 17391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777240" y="1417320"/>
            <a:ext cx="10607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Pay alice.arc 5 USDC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1847088"/>
            <a:ext cx="11064240" cy="420624"/>
          </a:xfrm>
          <a:prstGeom prst="roundRect">
            <a:avLst>
              <a:gd fmla="val 17391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777240" y="1892808"/>
            <a:ext cx="10607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Request 10 USDC from alice.arc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2322576"/>
            <a:ext cx="11064240" cy="420624"/>
          </a:xfrm>
          <a:prstGeom prst="roundRect">
            <a:avLst>
              <a:gd fmla="val 17391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777240" y="2368296"/>
            <a:ext cx="10607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payment link for snehal.arc for a 25 USDC consultation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2798064"/>
            <a:ext cx="11064240" cy="420624"/>
          </a:xfrm>
          <a:prstGeom prst="roundRect">
            <a:avLst>
              <a:gd fmla="val 17391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77240" y="2843784"/>
            <a:ext cx="10607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Bridge 1 USDC from Base Sepolia to Arc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3273552"/>
            <a:ext cx="11064240" cy="420624"/>
          </a:xfrm>
          <a:prstGeom prst="roundRect">
            <a:avLst>
              <a:gd fmla="val 17391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777240" y="3319272"/>
            <a:ext cx="10607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Swap 10 USDC to EURC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3749040"/>
            <a:ext cx="11064240" cy="420624"/>
          </a:xfrm>
          <a:prstGeom prst="roundRect">
            <a:avLst>
              <a:gd fmla="val 17391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77240" y="3794760"/>
            <a:ext cx="10607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Research the next Fed meeting and explain how it affects my portfolio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Chat  →  Preview  →  Confirm  →  Execute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Money-moving actions preview first — nothing settles until you confirm with YES.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agentflow.one · Arc Testnet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70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agent-economy\agentflow-frontend\public\media-kit\agentflow-logo-badge.png"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25603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/>
          <p:nvPr/>
        </p:nvSpPr>
        <p:spPr>
          <a:xfrm>
            <a:off x="548640" y="292608"/>
            <a:ext cx="1097400" cy="45600"/>
          </a:xfrm>
          <a:prstGeom prst="rect">
            <a:avLst/>
          </a:prstGeom>
          <a:solidFill>
            <a:srgbClr val="F2C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48640" y="438912"/>
            <a:ext cx="960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Capabilities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" name="Google Shape;78;p6"/>
          <p:cNvGrpSpPr/>
          <p:nvPr/>
        </p:nvGrpSpPr>
        <p:grpSpPr>
          <a:xfrm>
            <a:off x="552450" y="1095375"/>
            <a:ext cx="3543300" cy="3905400"/>
            <a:chOff x="552450" y="1095375"/>
            <a:chExt cx="3543300" cy="3905400"/>
          </a:xfrm>
        </p:grpSpPr>
        <p:sp>
          <p:nvSpPr>
            <p:cNvPr id="79" name="Google Shape;79;p6"/>
            <p:cNvSpPr/>
            <p:nvPr/>
          </p:nvSpPr>
          <p:spPr>
            <a:xfrm>
              <a:off x="552450" y="1095375"/>
              <a:ext cx="3543300" cy="3905400"/>
            </a:xfrm>
            <a:prstGeom prst="roundRect">
              <a:avLst>
                <a:gd fmla="val 3225" name="adj"/>
              </a:avLst>
            </a:prstGeom>
            <a:solidFill>
              <a:srgbClr val="111113"/>
            </a:solidFill>
            <a:ln cap="flat" cmpd="sng" w="14300">
              <a:solidFill>
                <a:srgbClr val="2222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6"/>
            <p:cNvSpPr txBox="1"/>
            <p:nvPr/>
          </p:nvSpPr>
          <p:spPr>
            <a:xfrm>
              <a:off x="552450" y="1095375"/>
              <a:ext cx="35433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AgentPay</a:t>
              </a:r>
              <a:endParaRPr b="1" i="0" sz="20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Send &amp; request USDC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.arc · contacts · addresses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Payment links &amp; QR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Invoices · Approvals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Split · Schedule · Batch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Chat + CSV Integration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Telegram payments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6"/>
          <p:cNvGrpSpPr/>
          <p:nvPr/>
        </p:nvGrpSpPr>
        <p:grpSpPr>
          <a:xfrm>
            <a:off x="4324350" y="1095375"/>
            <a:ext cx="3543300" cy="3905400"/>
            <a:chOff x="4324350" y="1095375"/>
            <a:chExt cx="3543300" cy="3905400"/>
          </a:xfrm>
        </p:grpSpPr>
        <p:sp>
          <p:nvSpPr>
            <p:cNvPr id="82" name="Google Shape;82;p6"/>
            <p:cNvSpPr/>
            <p:nvPr/>
          </p:nvSpPr>
          <p:spPr>
            <a:xfrm>
              <a:off x="4324350" y="1095375"/>
              <a:ext cx="3543300" cy="3905400"/>
            </a:xfrm>
            <a:prstGeom prst="roundRect">
              <a:avLst>
                <a:gd fmla="val 3225" name="adj"/>
              </a:avLst>
            </a:prstGeom>
            <a:solidFill>
              <a:srgbClr val="111113"/>
            </a:solidFill>
            <a:ln cap="flat" cmpd="sng" w="14300">
              <a:solidFill>
                <a:srgbClr val="2222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6"/>
            <p:cNvSpPr txBox="1"/>
            <p:nvPr/>
          </p:nvSpPr>
          <p:spPr>
            <a:xfrm>
              <a:off x="4324350" y="1095375"/>
              <a:ext cx="35433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Research</a:t>
              </a:r>
              <a:endParaRPr b="1" i="0" sz="20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Any-topic reports + citations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Research → Analyst → Writer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Portfolio-impact analysis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Prediction-market research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Self-hosted evidence index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6"/>
          <p:cNvGrpSpPr/>
          <p:nvPr/>
        </p:nvGrpSpPr>
        <p:grpSpPr>
          <a:xfrm>
            <a:off x="8096250" y="1095375"/>
            <a:ext cx="3543300" cy="3905400"/>
            <a:chOff x="8096250" y="1095375"/>
            <a:chExt cx="3543300" cy="3905400"/>
          </a:xfrm>
        </p:grpSpPr>
        <p:sp>
          <p:nvSpPr>
            <p:cNvPr id="85" name="Google Shape;85;p6"/>
            <p:cNvSpPr/>
            <p:nvPr/>
          </p:nvSpPr>
          <p:spPr>
            <a:xfrm>
              <a:off x="8096250" y="1095375"/>
              <a:ext cx="3543300" cy="3905400"/>
            </a:xfrm>
            <a:prstGeom prst="roundRect">
              <a:avLst>
                <a:gd fmla="val 3225" name="adj"/>
              </a:avLst>
            </a:prstGeom>
            <a:solidFill>
              <a:srgbClr val="111113"/>
            </a:solidFill>
            <a:ln cap="flat" cmpd="sng" w="14300">
              <a:solidFill>
                <a:srgbClr val="2222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6"/>
            <p:cNvSpPr txBox="1"/>
            <p:nvPr/>
          </p:nvSpPr>
          <p:spPr>
            <a:xfrm>
              <a:off x="8096250" y="1095375"/>
              <a:ext cx="35433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DeFi</a:t>
              </a:r>
              <a:endParaRPr b="1" i="0" sz="20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Swap · Vault · Bridge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Prediction markets (trade)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 — balance &amp; PnL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Vision + Voice input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2CA5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Chat-first for every agent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6"/>
          <p:cNvSpPr txBox="1"/>
          <p:nvPr/>
        </p:nvSpPr>
        <p:spPr>
          <a:xfrm>
            <a:off x="552450" y="5238750"/>
            <a:ext cx="11087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28600" spcFirstLastPara="1" rIns="2286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12 Core Agents</a:t>
            </a: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 the Agent Store · Chat for all · CSV templates for Batch, Split, Schedule, &amp; Invoice</a:t>
            </a:r>
            <a:endParaRPr b="0" i="0" sz="12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8640" y="6446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agentflow.one · Arc Testnet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70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agent-economy\agentflow-frontend\public\media-kit\agentflow-logo-badge.png"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25603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548640" y="292608"/>
            <a:ext cx="1097400" cy="45600"/>
          </a:xfrm>
          <a:prstGeom prst="rect">
            <a:avLst/>
          </a:prstGeom>
          <a:solidFill>
            <a:srgbClr val="F2C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48640" y="438912"/>
            <a:ext cx="960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Product demo — Intent → YES → Receipt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40" y="8686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One real money flow. Same pattern for swap, bridge, batch, and more.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52450" y="1428750"/>
            <a:ext cx="3429000" cy="4095900"/>
          </a:xfrm>
          <a:prstGeom prst="roundRect">
            <a:avLst>
              <a:gd fmla="val 4444" name="adj"/>
            </a:avLst>
          </a:prstGeom>
          <a:solidFill>
            <a:srgbClr val="111113"/>
          </a:solidFill>
          <a:ln cap="flat" cmpd="sng" w="14300">
            <a:solidFill>
              <a:srgbClr val="222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781050" y="1657350"/>
            <a:ext cx="2971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r>
              <a:rPr b="1" i="0" lang="en-US" sz="16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 ASK</a:t>
            </a:r>
            <a:endParaRPr b="1" i="0" sz="1600" u="none" cap="none" strike="noStrike">
              <a:solidFill>
                <a:srgbClr val="F2CA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781050" y="2228850"/>
            <a:ext cx="2971800" cy="295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Intent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2CA50"/>
                </a:solidFill>
                <a:highlight>
                  <a:srgbClr val="16161A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"Pay alice.arc 5 USDC for dinner"</a:t>
            </a:r>
            <a:endParaRPr b="0" i="0" sz="1200" u="none" cap="none" strike="noStrike">
              <a:solidFill>
                <a:srgbClr val="F2CA50"/>
              </a:solidFill>
              <a:highlight>
                <a:srgbClr val="16161A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Enter any natural language command to initiate an action.</a:t>
            </a:r>
            <a:endParaRPr b="0" i="0" sz="1100" u="none" cap="none" strike="noStrike">
              <a:solidFill>
                <a:srgbClr val="7373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5275" y="3409950"/>
            <a:ext cx="171600" cy="1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/>
          <p:nvPr/>
        </p:nvSpPr>
        <p:spPr>
          <a:xfrm>
            <a:off x="4381500" y="1428750"/>
            <a:ext cx="3429000" cy="4095900"/>
          </a:xfrm>
          <a:prstGeom prst="roundRect">
            <a:avLst>
              <a:gd fmla="val 4444" name="adj"/>
            </a:avLst>
          </a:prstGeom>
          <a:solidFill>
            <a:srgbClr val="111113"/>
          </a:solidFill>
          <a:ln cap="flat" cmpd="sng" w="14300">
            <a:solidFill>
              <a:srgbClr val="222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610100" y="1657350"/>
            <a:ext cx="2971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r>
              <a:rPr b="1" i="0" lang="en-US" sz="16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 PREVIEW</a:t>
            </a:r>
            <a:endParaRPr b="1" i="0" sz="1600" u="none" cap="none" strike="noStrike">
              <a:solidFill>
                <a:srgbClr val="F2CA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610100" y="2228850"/>
            <a:ext cx="2971800" cy="295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AgentFlow Verification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373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To: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alice.arc</a:t>
            </a:r>
            <a:endParaRPr b="0" i="0" sz="1200" u="none" cap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373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Amount: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5 USDC</a:t>
            </a:r>
            <a:endParaRPr b="0" i="0" sz="1200" u="none" cap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373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Network: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Arc</a:t>
            </a:r>
            <a:endParaRPr b="0" i="0" sz="1200" u="none" cap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Confirmation required:</a:t>
            </a:r>
            <a:endParaRPr b="0" i="0" sz="1100" u="none" cap="none" strike="noStrike">
              <a:solidFill>
                <a:srgbClr val="7373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2CA5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Say YES to confirm</a:t>
            </a:r>
            <a:endParaRPr b="1" i="0" sz="1200" u="none" cap="none" strike="noStrike">
              <a:solidFill>
                <a:srgbClr val="F2CA5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06" name="Google Shape;10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4325" y="3409950"/>
            <a:ext cx="171600" cy="1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/>
          <p:nvPr/>
        </p:nvSpPr>
        <p:spPr>
          <a:xfrm>
            <a:off x="8210550" y="1428750"/>
            <a:ext cx="3429000" cy="4095900"/>
          </a:xfrm>
          <a:prstGeom prst="roundRect">
            <a:avLst>
              <a:gd fmla="val 4444" name="adj"/>
            </a:avLst>
          </a:prstGeom>
          <a:solidFill>
            <a:srgbClr val="111113"/>
          </a:solidFill>
          <a:ln cap="flat" cmpd="sng" w="19050">
            <a:solidFill>
              <a:srgbClr val="F2C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439150" y="1657350"/>
            <a:ext cx="2971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r>
              <a:rPr b="1" i="0" lang="en-US" sz="16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 SETTLED</a:t>
            </a:r>
            <a:endParaRPr b="1" i="0" sz="1600" u="none" cap="none" strike="noStrike">
              <a:solidFill>
                <a:srgbClr val="F2CA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8439150" y="2228850"/>
            <a:ext cx="2971800" cy="295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Onchain Receipt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highlight>
                  <a:srgbClr val="13251A"/>
                </a:highlight>
                <a:latin typeface="Arial"/>
                <a:ea typeface="Arial"/>
                <a:cs typeface="Arial"/>
                <a:sym typeface="Arial"/>
              </a:rPr>
              <a:t>✓ Transfer confirmed</a:t>
            </a:r>
            <a:endParaRPr b="1" i="0" sz="1200" u="none" cap="none" strike="noStrike">
              <a:solidFill>
                <a:srgbClr val="4ADE80"/>
              </a:solidFill>
              <a:highlight>
                <a:srgbClr val="13251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373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Tx:</a:t>
            </a:r>
            <a:r>
              <a:rPr b="0" i="0" lang="en-US" sz="1100" u="none" cap="none" strike="noStrike">
                <a:solidFill>
                  <a:srgbClr val="A3A3A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Arc Testnet</a:t>
            </a:r>
            <a:endParaRPr b="0" i="0" sz="1100" u="none" cap="none" strike="noStrike">
              <a:solidFill>
                <a:srgbClr val="A3A3A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373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Type:</a:t>
            </a:r>
            <a:r>
              <a:rPr b="0" i="0" lang="en-US" sz="1100" u="none" cap="none" strike="noStrike">
                <a:solidFill>
                  <a:srgbClr val="A3A3A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x402 nanopayment</a:t>
            </a:r>
            <a:endParaRPr b="0" i="0" sz="1100" u="none" cap="none" strike="noStrike">
              <a:solidFill>
                <a:srgbClr val="A3A3A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48640" y="6446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agentflow.one · Arc Testnet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agent-economy\agentflow-frontend\public\media-kit\agentflow-logo-badge.png"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25603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548640" y="292608"/>
            <a:ext cx="1097280" cy="45720"/>
          </a:xfrm>
          <a:prstGeom prst="rect">
            <a:avLst/>
          </a:prstGeom>
          <a:solidFill>
            <a:srgbClr val="F2C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48640" y="43891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Live today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a mock — Arc Testnet with real USDC settlement.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02920" y="1280160"/>
            <a:ext cx="3611880" cy="1691640"/>
          </a:xfrm>
          <a:prstGeom prst="roundRect">
            <a:avLst>
              <a:gd fmla="val 6486" name="adj"/>
            </a:avLst>
          </a:prstGeom>
          <a:solidFill>
            <a:srgbClr val="101010"/>
          </a:solidFill>
          <a:ln cap="flat" cmpd="sng" w="19050">
            <a:solidFill>
              <a:srgbClr val="F2C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02920" y="1508760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9,303+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40080" y="224028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Onchain transactions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297680" y="1280160"/>
            <a:ext cx="3611880" cy="1691640"/>
          </a:xfrm>
          <a:prstGeom prst="roundRect">
            <a:avLst>
              <a:gd fmla="val 6486" name="adj"/>
            </a:avLst>
          </a:prstGeom>
          <a:solidFill>
            <a:srgbClr val="101010"/>
          </a:solidFill>
          <a:ln cap="flat" cmpd="sng" w="19050">
            <a:solidFill>
              <a:srgbClr val="F2C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297680" y="1508760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434840" y="224028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Core agents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8092440" y="1280160"/>
            <a:ext cx="3611880" cy="1691640"/>
          </a:xfrm>
          <a:prstGeom prst="roundRect">
            <a:avLst>
              <a:gd fmla="val 6486" name="adj"/>
            </a:avLst>
          </a:prstGeom>
          <a:solidFill>
            <a:srgbClr val="101010"/>
          </a:solidFill>
          <a:ln cap="flat" cmpd="sng" w="19050">
            <a:solidFill>
              <a:srgbClr val="F2C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8092440" y="1508760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8,440+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8229600" y="224028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A2A nanopayments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02920" y="3200400"/>
            <a:ext cx="11155680" cy="2880360"/>
          </a:xfrm>
          <a:prstGeom prst="roundRect">
            <a:avLst>
              <a:gd fmla="val 3810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777240" y="33832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What “12 core agents” means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777240" y="379476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12 Agent Store system agents: Research, Swap, Vault, Prediction Markets, Bridge, Portfolio, Invoice, Vision, Voice Input, Schedule, Split, Batch.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777240" y="438912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Analyst + Writer are stages inside the Research pipeline (extra x402 hops) — not separate store listings.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AgentPay send/request/links/QR are product surfaces powered by those agents + chat — not a 13th store agent.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777240" y="534924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Stack: Arc · Circle USDC · x402 · DCW/Gateway · .arc · ERC-8004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agentflow.one · Arc Testnet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agent-economy\agentflow-frontend\public\media-kit\agentflow-logo-badge.png" id="142" name="Google Shape;1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25603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/>
          <p:nvPr/>
        </p:nvSpPr>
        <p:spPr>
          <a:xfrm>
            <a:off x="548640" y="292608"/>
            <a:ext cx="1097280" cy="45720"/>
          </a:xfrm>
          <a:prstGeom prst="rect">
            <a:avLst/>
          </a:prstGeom>
          <a:solidFill>
            <a:srgbClr val="F2C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48640" y="43891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Why not just a wallet or ChatGPT?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11480" y="1051560"/>
            <a:ext cx="11338560" cy="685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11480" y="1097280"/>
            <a:ext cx="1600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2103120" y="10972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Wallets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4160520" y="109728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General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400800" y="109728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Single-purpose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crypto agents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9144000" y="109728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AgentFlow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11480" y="1828800"/>
            <a:ext cx="11338560" cy="6400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11480" y="19659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Natural language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2103120" y="1965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160520" y="19659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400800" y="196596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9144000" y="196596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11480" y="260604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Onchain execution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2103120" y="26060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160520" y="26060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400800" y="26060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Narrow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9144000" y="26060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11480" y="3108960"/>
            <a:ext cx="11338560" cy="6400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11480" y="324612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Preview → YES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2103120" y="3246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160520" y="32461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400800" y="32461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9144000" y="32461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11480" y="388620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Payments + DeFi + Research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2103120" y="38862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160520" y="38862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Talk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400800" y="388620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job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9144000" y="388620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One chat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11480" y="4389120"/>
            <a:ext cx="11338560" cy="6400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11480" y="452628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x402 A2A nanopayments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2103120" y="45262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160520" y="45262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400800" y="452628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9144000" y="452628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Native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11480" y="51663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Chat + CSV workflows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2103120" y="51663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160520" y="51663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400800" y="516636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9144000" y="516636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Yes*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* Batch, Split, Schedule, Invoice — chat and CSV. All other core agents are chat-first.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agentflow.one · Arc Testnet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agent-economy\agentflow-frontend\public\media-kit\agentflow-logo-badge.png" id="192" name="Google Shape;1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25603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/>
          <p:nvPr/>
        </p:nvSpPr>
        <p:spPr>
          <a:xfrm>
            <a:off x="548640" y="292608"/>
            <a:ext cx="1097280" cy="45720"/>
          </a:xfrm>
          <a:prstGeom prst="rect">
            <a:avLst/>
          </a:prstGeom>
          <a:solidFill>
            <a:srgbClr val="F2C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48640" y="43891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365760" y="1051560"/>
            <a:ext cx="2148840" cy="1691640"/>
          </a:xfrm>
          <a:prstGeom prst="roundRect">
            <a:avLst>
              <a:gd fmla="val 5405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57200" y="11887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Surfaces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457200" y="1600200"/>
            <a:ext cx="1965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· Telegram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Vision · Voice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2331720" y="1691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2697480" y="1051560"/>
            <a:ext cx="2148840" cy="1691640"/>
          </a:xfrm>
          <a:prstGeom prst="roundRect">
            <a:avLst>
              <a:gd fmla="val 5405" name="adj"/>
            </a:avLst>
          </a:prstGeom>
          <a:solidFill>
            <a:srgbClr val="101010"/>
          </a:solidFill>
          <a:ln cap="flat" cmpd="sng" w="19050">
            <a:solidFill>
              <a:srgbClr val="F2C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2788920" y="11887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2788920" y="1600200"/>
            <a:ext cx="1965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Classify → Route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Validate · Memory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663440" y="1691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029200" y="1051560"/>
            <a:ext cx="2148840" cy="1691640"/>
          </a:xfrm>
          <a:prstGeom prst="roundRect">
            <a:avLst>
              <a:gd fmla="val 5405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120640" y="11887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120640" y="1600200"/>
            <a:ext cx="1965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 core agents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Research stages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995160" y="1691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360920" y="1051560"/>
            <a:ext cx="2148840" cy="1691640"/>
          </a:xfrm>
          <a:prstGeom prst="roundRect">
            <a:avLst>
              <a:gd fmla="val 5405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7452360" y="11887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Confirm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7452360" y="1600200"/>
            <a:ext cx="1965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YES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9326880" y="1691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692640" y="1051560"/>
            <a:ext cx="2148840" cy="1691640"/>
          </a:xfrm>
          <a:prstGeom prst="roundRect">
            <a:avLst>
              <a:gd fmla="val 5405" name="adj"/>
            </a:avLst>
          </a:prstGeom>
          <a:solidFill>
            <a:srgbClr val="101010"/>
          </a:solidFill>
          <a:ln cap="flat" cmpd="sng" w="19050">
            <a:solidFill>
              <a:srgbClr val="F2C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9784080" y="11887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Settle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9784080" y="1600200"/>
            <a:ext cx="1965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x402 · DCW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 USDC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65760" y="2971800"/>
            <a:ext cx="5669280" cy="3063240"/>
          </a:xfrm>
          <a:prstGeom prst="roundRect">
            <a:avLst>
              <a:gd fmla="val 3582" name="adj"/>
            </a:avLst>
          </a:prstGeom>
          <a:solidFill>
            <a:srgbClr val="101010"/>
          </a:solidFill>
          <a:ln cap="flat" cmpd="sng" w="19050">
            <a:solidFill>
              <a:srgbClr val="F2C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94360" y="31546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Hermes Agent vs Hermes LLM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94360" y="3611880"/>
            <a:ext cx="52120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Hermes Agent — orchestrates workflows (chat runtime, tools, routing).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Hermes LLM — provides reasoning (Hermes-4 model API).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uses the LLM. Research/report often calls the LLM via /run so the chat brain can’t invent citations.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263640" y="2971800"/>
            <a:ext cx="5532120" cy="3063240"/>
          </a:xfrm>
          <a:prstGeom prst="roundRect">
            <a:avLst>
              <a:gd fmla="val 3582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492240" y="31546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Semantic stack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492240" y="3611880"/>
            <a:ext cx="51206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 Classification — understand the ask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  Intent Router — dispatch to the right 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  Validation — previews &amp; guardrails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 Semantic Memory — wallet-scoped contacts &amp; prefs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infra: Meilisearch evidence index (~ms local reuse) → Firecrawl/SearXNG on VPS when needed · fail-open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agentflow.one · Arc Testnet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agent-economy\agentflow-frontend\public\media-kit\agentflow-logo-badge.png" id="227" name="Google Shape;2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25603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/>
          <p:nvPr/>
        </p:nvSpPr>
        <p:spPr>
          <a:xfrm>
            <a:off x="548640" y="292608"/>
            <a:ext cx="1097280" cy="45720"/>
          </a:xfrm>
          <a:prstGeom prst="rect">
            <a:avLst/>
          </a:prstGeom>
          <a:solidFill>
            <a:srgbClr val="F2C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48640" y="43891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Agents &amp; x402 nanopayments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48640" y="86868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Pay per task in USDC. Research pipeline = agents paying agents.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02920" y="128016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731520" y="135331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3794760" y="13533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502920" y="178308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731520" y="185623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Analyst*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3794760" y="18562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02920" y="228600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31520" y="235915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Writer*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794760" y="23591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$0.008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502920" y="278892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731520" y="286207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3794760" y="28620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502920" y="329184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731520" y="336499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Vault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3794760" y="33649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02920" y="379476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731520" y="386791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 Markets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794760" y="38679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02920" y="429768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731520" y="437083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3794760" y="43708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$0.009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263640" y="128016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492240" y="135331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9555480" y="13533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$0.015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6263640" y="178308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492240" y="185623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Invoice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9555480" y="18562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6263640" y="228600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6492240" y="235915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9555480" y="23591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263640" y="278892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6492240" y="286207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9555480" y="28620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263640" y="329184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6492240" y="336499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9555480" y="33649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263640" y="379476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6492240" y="386791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9555480" y="38679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$0.004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263640" y="4297680"/>
            <a:ext cx="5394960" cy="438912"/>
          </a:xfrm>
          <a:prstGeom prst="roundRect">
            <a:avLst>
              <a:gd fmla="val 16667" name="adj"/>
            </a:avLst>
          </a:prstGeom>
          <a:solidFill>
            <a:srgbClr val="10101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6492240" y="437083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9555480" y="43708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Free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48640" y="4937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* Analyst &amp; Writer = Research pipeline stages (full report $0.016). Chat + CSV: Batch, Split, Schedule, Invoice.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02920" y="5349240"/>
            <a:ext cx="11155680" cy="822960"/>
          </a:xfrm>
          <a:prstGeom prst="roundRect">
            <a:avLst>
              <a:gd fmla="val 11111" name="adj"/>
            </a:avLst>
          </a:prstGeom>
          <a:solidFill>
            <a:srgbClr val="101010"/>
          </a:solidFill>
          <a:ln cap="flat" cmpd="sng" w="19050">
            <a:solidFill>
              <a:srgbClr val="F2C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Vision benchmark: ~94% field accuracy · 7/8 sections · OCR, invoices, charts, injection defence strong · grid spatial still improving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agentflow.one · Arc Testnet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70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agent-economy\agentflow-frontend\public\media-kit\agentflow-logo-badge.png" id="283" name="Google Shape;2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25603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2"/>
          <p:cNvSpPr/>
          <p:nvPr/>
        </p:nvSpPr>
        <p:spPr>
          <a:xfrm>
            <a:off x="548640" y="292608"/>
            <a:ext cx="1097400" cy="45600"/>
          </a:xfrm>
          <a:prstGeom prst="rect">
            <a:avLst/>
          </a:prstGeom>
          <a:solidFill>
            <a:srgbClr val="F2C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548640" y="438912"/>
            <a:ext cx="960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Where AgentFlow goes next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571500" y="1333500"/>
            <a:ext cx="3429000" cy="4572000"/>
          </a:xfrm>
          <a:prstGeom prst="roundRect">
            <a:avLst>
              <a:gd fmla="val 4444" name="adj"/>
            </a:avLst>
          </a:prstGeom>
          <a:solidFill>
            <a:srgbClr val="111112"/>
          </a:solidFill>
          <a:ln cap="flat" cmpd="sng" w="19050">
            <a:solidFill>
              <a:srgbClr val="F2C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571500" y="1333500"/>
            <a:ext cx="34290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33375" lIns="238125" spcFirstLastPara="1" rIns="238125" wrap="square" tIns="333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 b="1" sz="2400">
              <a:solidFill>
                <a:srgbClr val="F2CA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22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Web + Telegram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12 core agents live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AgentPay · Research · DeFi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Vision · Voice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x402 A2A on Arc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4381500" y="1333500"/>
            <a:ext cx="3429000" cy="4572000"/>
          </a:xfrm>
          <a:prstGeom prst="roundRect">
            <a:avLst>
              <a:gd fmla="val 4444" name="adj"/>
            </a:avLst>
          </a:prstGeom>
          <a:solidFill>
            <a:srgbClr val="111112"/>
          </a:solidFill>
          <a:ln cap="flat" cmpd="sng" w="14300">
            <a:solidFill>
              <a:srgbClr val="2A2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4381500" y="1333500"/>
            <a:ext cx="34290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33375" lIns="238125" spcFirstLastPara="1" rIns="238125" wrap="square" tIns="333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1" sz="2400">
              <a:solidFill>
                <a:srgbClr val="A3A3A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22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Android + iOS apps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Push for YES confirms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QR + camera Vision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Deeper mobile Voice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8191500" y="1333500"/>
            <a:ext cx="3429000" cy="4572000"/>
          </a:xfrm>
          <a:prstGeom prst="roundRect">
            <a:avLst>
              <a:gd fmla="val 4444" name="adj"/>
            </a:avLst>
          </a:prstGeom>
          <a:solidFill>
            <a:srgbClr val="111112"/>
          </a:solidFill>
          <a:ln cap="flat" cmpd="sng" w="14300">
            <a:solidFill>
              <a:srgbClr val="2A2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8191500" y="1333500"/>
            <a:ext cx="34290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33375" lIns="238125" spcFirstLastPara="1" rIns="238125" wrap="square" tIns="333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endParaRPr b="1" sz="2400">
              <a:solidFill>
                <a:srgbClr val="A3A3A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22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AgentFlow SLM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Trained on product usage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Faster routing · lower cost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Clr>
                <a:srgbClr val="E5E5E5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Stronger product moat</a:t>
            </a:r>
            <a:endParaRPr sz="14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48640" y="6446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agentflow.one · Arc Testnet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agent-economy\agentflow-frontend\public\media-kit\agentflow-logo-badge.png" id="299" name="Google Shape;2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25603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3"/>
          <p:cNvSpPr/>
          <p:nvPr/>
        </p:nvSpPr>
        <p:spPr>
          <a:xfrm>
            <a:off x="548640" y="292608"/>
            <a:ext cx="1097280" cy="45720"/>
          </a:xfrm>
          <a:prstGeom prst="rect">
            <a:avLst/>
          </a:prstGeom>
          <a:solidFill>
            <a:srgbClr val="F2C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48640" y="43891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2560320" y="1371600"/>
            <a:ext cx="7040880" cy="4206240"/>
          </a:xfrm>
          <a:prstGeom prst="roundRect">
            <a:avLst>
              <a:gd fmla="val 3043" name="adj"/>
            </a:avLst>
          </a:prstGeom>
          <a:solidFill>
            <a:srgbClr val="101010"/>
          </a:solidFill>
          <a:ln cap="flat" cmpd="sng" w="19050">
            <a:solidFill>
              <a:srgbClr val="F2C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agent-economy\agentflow-frontend\public\media-kit\agentflow-logo-badge.png" id="303" name="Google Shape;3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4960" y="169164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3"/>
          <p:cNvSpPr/>
          <p:nvPr/>
        </p:nvSpPr>
        <p:spPr>
          <a:xfrm>
            <a:off x="2834640" y="3246120"/>
            <a:ext cx="6492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Snehal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2834640" y="3840480"/>
            <a:ext cx="6492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CA5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CA50"/>
                </a:solidFill>
                <a:latin typeface="Arial"/>
                <a:ea typeface="Arial"/>
                <a:cs typeface="Arial"/>
                <a:sym typeface="Arial"/>
              </a:rPr>
              <a:t>Solo founder · AgentFlow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3017520" y="4389120"/>
            <a:ext cx="6126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Building the full stack — product, agents, and Arc / x402 settlement.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Live at agentflow.one  ·  X @AgentFlowone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agentflow.one · Arc Testnet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070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01168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Today's AI answers questions.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AgentFlow completes financial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3A3A3"/>
                </a:solidFill>
                <a:latin typeface="Arial"/>
              </a:rPr>
              <a:t>The future isn't opening more apps.</a:t>
            </a:r>
          </a:p>
          <a:p>
            <a:pPr algn="ctr"/>
            <a:r>
              <a:rPr sz="1500" b="0">
                <a:solidFill>
                  <a:srgbClr val="A3A3A3"/>
                </a:solidFill>
                <a:latin typeface="Arial"/>
              </a:rPr>
              <a:t>It's expressing your intent — on web, Telegram, and soon mobile.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2CA50"/>
                </a:solidFill>
                <a:latin typeface="Arial"/>
              </a:rPr>
              <a:t>Intent in. Execution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2CA50"/>
                </a:solidFill>
                <a:latin typeface="Arial"/>
              </a:rPr>
              <a:t>Built by Snehal · Solo founder  ·  X @AgentFlowone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3566160"/>
            <a:ext cx="5669280" cy="1417320"/>
          </a:xfrm>
          <a:prstGeom prst="roundRect">
            <a:avLst>
              <a:gd name="adj" fmla="val 10000"/>
            </a:avLst>
          </a:prstGeom>
          <a:solidFill>
            <a:srgbClr val="101010"/>
          </a:solidFill>
          <a:ln w="1905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gentflow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703320"/>
            <a:ext cx="1143000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2040" y="3794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CA50"/>
                </a:solidFill>
                <a:latin typeface="Arial"/>
              </a:rPr>
              <a:t>Try AgentFlow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41605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Scan -&gt; agentflow.one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448056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3A3A3"/>
                </a:solidFill>
                <a:latin typeface="Arial"/>
              </a:rPr>
              <a:t>Live on Arc Testnet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101010"/>
          </a:solidFill>
          <a:ln w="1905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34924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CA50"/>
                </a:solidFill>
                <a:latin typeface="Arial"/>
              </a:rPr>
              <a:t>Access codes  ·  one per person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692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P2K5K7RW   ·   4RUYHW5X   ·   S3SQFXYB   ·   9VDFRSRD   ·   F6EBUWQP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3A3A3"/>
                </a:solidFill>
                <a:latin typeface="Arial"/>
              </a:rPr>
              <a:t>agentflow.one · Arc Testnet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